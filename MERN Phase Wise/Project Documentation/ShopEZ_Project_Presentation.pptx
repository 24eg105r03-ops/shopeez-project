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152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341">
          <p15:clr>
            <a:srgbClr val="747775"/>
          </p15:clr>
        </p15:guide>
      </p15:sldGuideLst>
    </p:ext>
    <p:ext uri="GoogleSlidesCustomDataVersion2">
      <go:slidesCustomData xmlns:go="http://customooxmlschemas.google.com/" r:id="rId9" roundtripDataSignature="AMtx7mhHrbkIkvXodWRhyB5fEswEz3Dm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152" orient="horz"/>
        <p:guide pos="2880"/>
        <p:guide pos="341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customschemas.google.com/relationships/presentationmetadata" Target="metadata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1" name="Google Shape;6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" name="Google Shape;73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2339eb39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f2339eb39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" type="body"/>
          </p:nvPr>
        </p:nvSpPr>
        <p:spPr>
          <a:xfrm>
            <a:off x="457200" y="120015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1187450" lvl="0" marL="457200" algn="l">
              <a:lnSpc>
                <a:spcPct val="100000"/>
              </a:lnSpc>
              <a:spcBef>
                <a:spcPts val="3020"/>
              </a:spcBef>
              <a:spcAft>
                <a:spcPts val="0"/>
              </a:spcAft>
              <a:buSzPts val="15100"/>
              <a:buChar char="•"/>
              <a:defRPr/>
            </a:lvl1pPr>
            <a:lvl2pPr indent="-1066800" lvl="1" marL="914400" algn="l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SzPts val="13200"/>
              <a:buChar char="–"/>
              <a:defRPr/>
            </a:lvl2pPr>
            <a:lvl3pPr indent="-946150" lvl="2" marL="137160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SzPts val="11300"/>
              <a:buChar char="•"/>
              <a:defRPr/>
            </a:lvl3pPr>
            <a:lvl4pPr indent="-825500" lvl="3" marL="18288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SzPts val="9400"/>
              <a:buChar char="–"/>
              <a:defRPr/>
            </a:lvl4pPr>
            <a:lvl5pPr indent="-825500" lvl="4" marL="22860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SzPts val="9400"/>
              <a:buChar char="»"/>
              <a:defRPr/>
            </a:lvl5pPr>
            <a:lvl6pPr indent="-825500" lvl="5" marL="27432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SzPts val="9400"/>
              <a:buChar char="•"/>
              <a:defRPr/>
            </a:lvl6pPr>
            <a:lvl7pPr indent="-825500" lvl="6" marL="32004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SzPts val="9400"/>
              <a:buChar char="•"/>
              <a:defRPr/>
            </a:lvl7pPr>
            <a:lvl8pPr indent="-825500" lvl="7" marL="36576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SzPts val="9400"/>
              <a:buChar char="•"/>
              <a:defRPr/>
            </a:lvl8pPr>
            <a:lvl9pPr indent="-825500" lvl="8" marL="41148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SzPts val="9400"/>
              <a:buChar char="•"/>
              <a:defRPr/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" type="body"/>
          </p:nvPr>
        </p:nvSpPr>
        <p:spPr>
          <a:xfrm>
            <a:off x="457200" y="1200152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1066800" lvl="0" marL="457200" algn="l">
              <a:lnSpc>
                <a:spcPct val="10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3200"/>
              <a:buChar char="•"/>
              <a:defRPr sz="2900"/>
            </a:lvl1pPr>
            <a:lvl2pPr indent="-946150" lvl="1" marL="914400" algn="l">
              <a:lnSpc>
                <a:spcPct val="100000"/>
              </a:lnSpc>
              <a:spcBef>
                <a:spcPts val="494"/>
              </a:spcBef>
              <a:spcAft>
                <a:spcPts val="0"/>
              </a:spcAft>
              <a:buClr>
                <a:schemeClr val="dk1"/>
              </a:buClr>
              <a:buSzPts val="11300"/>
              <a:buChar char="–"/>
              <a:defRPr sz="2500"/>
            </a:lvl2pPr>
            <a:lvl3pPr indent="-825500" lvl="2" marL="13716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2100"/>
            </a:lvl3pPr>
            <a:lvl4pPr indent="-768350" lvl="3" marL="18288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–"/>
              <a:defRPr sz="1900"/>
            </a:lvl4pPr>
            <a:lvl5pPr indent="-768350" lvl="4" marL="22860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»"/>
              <a:defRPr sz="1900"/>
            </a:lvl5pPr>
            <a:lvl6pPr indent="-768350" lvl="5" marL="27432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6pPr>
            <a:lvl7pPr indent="-768350" lvl="6" marL="32004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7pPr>
            <a:lvl8pPr indent="-768350" lvl="7" marL="36576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8pPr>
            <a:lvl9pPr indent="-768350" lvl="8" marL="41148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9pPr>
          </a:lstStyle>
          <a:p/>
        </p:txBody>
      </p:sp>
      <p:sp>
        <p:nvSpPr>
          <p:cNvPr id="20" name="Google Shape;20;p21"/>
          <p:cNvSpPr txBox="1"/>
          <p:nvPr>
            <p:ph idx="2" type="body"/>
          </p:nvPr>
        </p:nvSpPr>
        <p:spPr>
          <a:xfrm>
            <a:off x="4648200" y="1200152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1066800" lvl="0" marL="457200" algn="l">
              <a:lnSpc>
                <a:spcPct val="10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3200"/>
              <a:buChar char="•"/>
              <a:defRPr sz="2900"/>
            </a:lvl1pPr>
            <a:lvl2pPr indent="-946150" lvl="1" marL="914400" algn="l">
              <a:lnSpc>
                <a:spcPct val="100000"/>
              </a:lnSpc>
              <a:spcBef>
                <a:spcPts val="494"/>
              </a:spcBef>
              <a:spcAft>
                <a:spcPts val="0"/>
              </a:spcAft>
              <a:buClr>
                <a:schemeClr val="dk1"/>
              </a:buClr>
              <a:buSzPts val="11300"/>
              <a:buChar char="–"/>
              <a:defRPr sz="2500"/>
            </a:lvl2pPr>
            <a:lvl3pPr indent="-825500" lvl="2" marL="13716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2100"/>
            </a:lvl3pPr>
            <a:lvl4pPr indent="-768350" lvl="3" marL="18288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–"/>
              <a:defRPr sz="1900"/>
            </a:lvl4pPr>
            <a:lvl5pPr indent="-768350" lvl="4" marL="22860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»"/>
              <a:defRPr sz="1900"/>
            </a:lvl5pPr>
            <a:lvl6pPr indent="-768350" lvl="5" marL="27432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6pPr>
            <a:lvl7pPr indent="-768350" lvl="6" marL="32004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7pPr>
            <a:lvl8pPr indent="-768350" lvl="7" marL="36576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8pPr>
            <a:lvl9pPr indent="-768350" lvl="8" marL="41148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9pPr>
          </a:lstStyle>
          <a:p/>
        </p:txBody>
      </p:sp>
      <p:sp>
        <p:nvSpPr>
          <p:cNvPr id="21" name="Google Shape;21;p21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2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7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" type="body"/>
          </p:nvPr>
        </p:nvSpPr>
        <p:spPr>
          <a:xfrm>
            <a:off x="457200" y="1151335"/>
            <a:ext cx="4040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7025" lIns="94100" spcFirstLastPara="1" rIns="94100" wrap="square" tIns="470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94"/>
              </a:spcBef>
              <a:spcAft>
                <a:spcPts val="0"/>
              </a:spcAft>
              <a:buClr>
                <a:schemeClr val="dk1"/>
              </a:buClr>
              <a:buSzPts val="11300"/>
              <a:buNone/>
              <a:defRPr b="1" sz="2500"/>
            </a:lvl1pPr>
            <a:lvl2pPr indent="-228600" lvl="1" marL="9144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None/>
              <a:defRPr b="1" sz="2100"/>
            </a:lvl2pPr>
            <a:lvl3pPr indent="-228600" lvl="2" marL="13716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None/>
              <a:defRPr b="1" sz="1900"/>
            </a:lvl3pPr>
            <a:lvl4pPr indent="-228600" lvl="3" marL="18288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9pPr>
          </a:lstStyle>
          <a:p/>
        </p:txBody>
      </p:sp>
      <p:sp>
        <p:nvSpPr>
          <p:cNvPr id="27" name="Google Shape;27;p22"/>
          <p:cNvSpPr txBox="1"/>
          <p:nvPr>
            <p:ph idx="2" type="body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946150" lvl="0" marL="457200" algn="l">
              <a:lnSpc>
                <a:spcPct val="100000"/>
              </a:lnSpc>
              <a:spcBef>
                <a:spcPts val="494"/>
              </a:spcBef>
              <a:spcAft>
                <a:spcPts val="0"/>
              </a:spcAft>
              <a:buClr>
                <a:schemeClr val="dk1"/>
              </a:buClr>
              <a:buSzPts val="11300"/>
              <a:buChar char="•"/>
              <a:defRPr sz="2500"/>
            </a:lvl1pPr>
            <a:lvl2pPr indent="-825500" lvl="1" marL="9144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Char char="–"/>
              <a:defRPr sz="2100"/>
            </a:lvl2pPr>
            <a:lvl3pPr indent="-768350" lvl="2" marL="13716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3pPr>
            <a:lvl4pPr indent="-704850" lvl="3" marL="18288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–"/>
              <a:defRPr sz="1600"/>
            </a:lvl4pPr>
            <a:lvl5pPr indent="-704850" lvl="4" marL="22860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»"/>
              <a:defRPr sz="1600"/>
            </a:lvl5pPr>
            <a:lvl6pPr indent="-704850" lvl="5" marL="27432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6pPr>
            <a:lvl7pPr indent="-704850" lvl="6" marL="32004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7pPr>
            <a:lvl8pPr indent="-704850" lvl="7" marL="36576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8pPr>
            <a:lvl9pPr indent="-704850" lvl="8" marL="41148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9pPr>
          </a:lstStyle>
          <a:p/>
        </p:txBody>
      </p:sp>
      <p:sp>
        <p:nvSpPr>
          <p:cNvPr id="28" name="Google Shape;28;p22"/>
          <p:cNvSpPr txBox="1"/>
          <p:nvPr>
            <p:ph idx="3" type="body"/>
          </p:nvPr>
        </p:nvSpPr>
        <p:spPr>
          <a:xfrm>
            <a:off x="4645026" y="1151335"/>
            <a:ext cx="40419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7025" lIns="94100" spcFirstLastPara="1" rIns="94100" wrap="square" tIns="470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94"/>
              </a:spcBef>
              <a:spcAft>
                <a:spcPts val="0"/>
              </a:spcAft>
              <a:buClr>
                <a:schemeClr val="dk1"/>
              </a:buClr>
              <a:buSzPts val="11300"/>
              <a:buNone/>
              <a:defRPr b="1" sz="2500"/>
            </a:lvl1pPr>
            <a:lvl2pPr indent="-228600" lvl="1" marL="9144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None/>
              <a:defRPr b="1" sz="2100"/>
            </a:lvl2pPr>
            <a:lvl3pPr indent="-228600" lvl="2" marL="13716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None/>
              <a:defRPr b="1" sz="1900"/>
            </a:lvl3pPr>
            <a:lvl4pPr indent="-228600" lvl="3" marL="18288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None/>
              <a:defRPr b="1" sz="1600"/>
            </a:lvl9pPr>
          </a:lstStyle>
          <a:p/>
        </p:txBody>
      </p:sp>
      <p:sp>
        <p:nvSpPr>
          <p:cNvPr id="29" name="Google Shape;29;p22"/>
          <p:cNvSpPr txBox="1"/>
          <p:nvPr>
            <p:ph idx="4" type="body"/>
          </p:nvPr>
        </p:nvSpPr>
        <p:spPr>
          <a:xfrm>
            <a:off x="4645026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946150" lvl="0" marL="457200" algn="l">
              <a:lnSpc>
                <a:spcPct val="100000"/>
              </a:lnSpc>
              <a:spcBef>
                <a:spcPts val="494"/>
              </a:spcBef>
              <a:spcAft>
                <a:spcPts val="0"/>
              </a:spcAft>
              <a:buClr>
                <a:schemeClr val="dk1"/>
              </a:buClr>
              <a:buSzPts val="11300"/>
              <a:buChar char="•"/>
              <a:defRPr sz="2500"/>
            </a:lvl1pPr>
            <a:lvl2pPr indent="-825500" lvl="1" marL="9144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Char char="–"/>
              <a:defRPr sz="2100"/>
            </a:lvl2pPr>
            <a:lvl3pPr indent="-768350" lvl="2" marL="1371600" algn="l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1900"/>
            </a:lvl3pPr>
            <a:lvl4pPr indent="-704850" lvl="3" marL="18288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–"/>
              <a:defRPr sz="1600"/>
            </a:lvl4pPr>
            <a:lvl5pPr indent="-704850" lvl="4" marL="22860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»"/>
              <a:defRPr sz="1600"/>
            </a:lvl5pPr>
            <a:lvl6pPr indent="-704850" lvl="5" marL="27432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6pPr>
            <a:lvl7pPr indent="-704850" lvl="6" marL="32004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7pPr>
            <a:lvl8pPr indent="-704850" lvl="7" marL="36576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8pPr>
            <a:lvl9pPr indent="-704850" lvl="8" marL="4114800" algn="l">
              <a:lnSpc>
                <a:spcPct val="100000"/>
              </a:lnSpc>
              <a:spcBef>
                <a:spcPts val="328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600"/>
            </a:lvl9pPr>
          </a:lstStyle>
          <a:p/>
        </p:txBody>
      </p:sp>
      <p:sp>
        <p:nvSpPr>
          <p:cNvPr id="30" name="Google Shape;30;p22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32" name="Google Shape;32;p22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3"/>
          <p:cNvSpPr txBox="1"/>
          <p:nvPr>
            <p:ph type="title"/>
          </p:nvPr>
        </p:nvSpPr>
        <p:spPr>
          <a:xfrm>
            <a:off x="457202" y="204788"/>
            <a:ext cx="3008400" cy="871800"/>
          </a:xfrm>
          <a:prstGeom prst="rect">
            <a:avLst/>
          </a:prstGeom>
          <a:noFill/>
          <a:ln>
            <a:noFill/>
          </a:ln>
        </p:spPr>
        <p:txBody>
          <a:bodyPr anchorCtr="0" anchor="b" bIns="47025" lIns="94100" spcFirstLastPara="1" rIns="94100" wrap="square" tIns="47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Calibri"/>
              <a:buNone/>
              <a:defRPr b="1"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3575051" y="204789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1187450" lvl="0" marL="45720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15100"/>
              <a:buChar char="•"/>
              <a:defRPr sz="3300"/>
            </a:lvl1pPr>
            <a:lvl2pPr indent="-1066800" lvl="1" marL="914400" algn="l">
              <a:lnSpc>
                <a:spcPct val="100000"/>
              </a:lnSpc>
              <a:spcBef>
                <a:spcPts val="577"/>
              </a:spcBef>
              <a:spcAft>
                <a:spcPts val="0"/>
              </a:spcAft>
              <a:buClr>
                <a:schemeClr val="dk1"/>
              </a:buClr>
              <a:buSzPts val="13200"/>
              <a:buChar char="–"/>
              <a:defRPr sz="2900"/>
            </a:lvl2pPr>
            <a:lvl3pPr indent="-946150" lvl="2" marL="1371600" algn="l">
              <a:lnSpc>
                <a:spcPct val="100000"/>
              </a:lnSpc>
              <a:spcBef>
                <a:spcPts val="494"/>
              </a:spcBef>
              <a:spcAft>
                <a:spcPts val="0"/>
              </a:spcAft>
              <a:buClr>
                <a:schemeClr val="dk1"/>
              </a:buClr>
              <a:buSzPts val="11300"/>
              <a:buChar char="•"/>
              <a:defRPr sz="2500"/>
            </a:lvl3pPr>
            <a:lvl4pPr indent="-825500" lvl="3" marL="18288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Char char="–"/>
              <a:defRPr sz="2100"/>
            </a:lvl4pPr>
            <a:lvl5pPr indent="-825500" lvl="4" marL="22860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Char char="»"/>
              <a:defRPr sz="2100"/>
            </a:lvl5pPr>
            <a:lvl6pPr indent="-825500" lvl="5" marL="27432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2100"/>
            </a:lvl6pPr>
            <a:lvl7pPr indent="-825500" lvl="6" marL="32004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2100"/>
            </a:lvl7pPr>
            <a:lvl8pPr indent="-825500" lvl="7" marL="36576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2100"/>
            </a:lvl8pPr>
            <a:lvl9pPr indent="-825500" lvl="8" marL="4114800" algn="l">
              <a:lnSpc>
                <a:spcPct val="100000"/>
              </a:lnSpc>
              <a:spcBef>
                <a:spcPts val="411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2100"/>
            </a:lvl9pPr>
          </a:lstStyle>
          <a:p/>
        </p:txBody>
      </p:sp>
      <p:sp>
        <p:nvSpPr>
          <p:cNvPr id="36" name="Google Shape;36;p23"/>
          <p:cNvSpPr txBox="1"/>
          <p:nvPr>
            <p:ph idx="2" type="body"/>
          </p:nvPr>
        </p:nvSpPr>
        <p:spPr>
          <a:xfrm>
            <a:off x="457202" y="1076326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9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6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9pPr>
          </a:lstStyle>
          <a:p/>
        </p:txBody>
      </p:sp>
      <p:sp>
        <p:nvSpPr>
          <p:cNvPr id="37" name="Google Shape;37;p23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 txBox="1"/>
          <p:nvPr>
            <p:ph type="title"/>
          </p:nvPr>
        </p:nvSpPr>
        <p:spPr>
          <a:xfrm>
            <a:off x="1792289" y="3600452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7025" lIns="94100" spcFirstLastPara="1" rIns="94100" wrap="square" tIns="47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Calibri"/>
              <a:buNone/>
              <a:defRPr b="1"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4"/>
          <p:cNvSpPr/>
          <p:nvPr>
            <p:ph idx="2" type="pic"/>
          </p:nvPr>
        </p:nvSpPr>
        <p:spPr>
          <a:xfrm>
            <a:off x="1792289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24"/>
          <p:cNvSpPr txBox="1"/>
          <p:nvPr>
            <p:ph idx="1" type="body"/>
          </p:nvPr>
        </p:nvSpPr>
        <p:spPr>
          <a:xfrm>
            <a:off x="1792289" y="4025505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9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5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6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4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900"/>
            </a:lvl9pPr>
          </a:lstStyle>
          <a:p/>
        </p:txBody>
      </p:sp>
      <p:sp>
        <p:nvSpPr>
          <p:cNvPr id="44" name="Google Shape;44;p24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45" name="Google Shape;45;p24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" type="body"/>
          </p:nvPr>
        </p:nvSpPr>
        <p:spPr>
          <a:xfrm rot="5400000">
            <a:off x="2874751" y="-1217399"/>
            <a:ext cx="33945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5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6"/>
          <p:cNvSpPr txBox="1"/>
          <p:nvPr>
            <p:ph type="title"/>
          </p:nvPr>
        </p:nvSpPr>
        <p:spPr>
          <a:xfrm rot="5400000">
            <a:off x="5463751" y="1371630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6"/>
          <p:cNvSpPr txBox="1"/>
          <p:nvPr>
            <p:ph idx="1" type="body"/>
          </p:nvPr>
        </p:nvSpPr>
        <p:spPr>
          <a:xfrm rot="5400000">
            <a:off x="1272750" y="-609570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79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6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/>
        </p:txBody>
      </p:sp>
      <p:sp>
        <p:nvSpPr>
          <p:cNvPr id="58" name="Google Shape;58;p26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700"/>
              <a:buFont typeface="Calibri"/>
              <a:buNone/>
              <a:defRPr b="0" i="0" sz="20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457200" y="120015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>
            <a:lvl1pPr indent="-1187450" lvl="0" marL="457200" marR="0" rtl="0" algn="l">
              <a:lnSpc>
                <a:spcPct val="100000"/>
              </a:lnSpc>
              <a:spcBef>
                <a:spcPts val="3020"/>
              </a:spcBef>
              <a:spcAft>
                <a:spcPts val="0"/>
              </a:spcAft>
              <a:buClr>
                <a:schemeClr val="dk1"/>
              </a:buClr>
              <a:buSzPts val="15100"/>
              <a:buFont typeface="Arial"/>
              <a:buChar char="•"/>
              <a:defRPr b="0" i="0" sz="15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66800" lvl="1" marL="914400" marR="0" rtl="0" algn="l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Arial"/>
              <a:buChar char="–"/>
              <a:defRPr b="0" i="0" sz="1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946150" lvl="2" marL="1371600" marR="0" rtl="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Font typeface="Arial"/>
              <a:buChar char="•"/>
              <a:defRPr b="0" i="0" sz="1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25500" lvl="3" marL="18288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–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25500" lvl="4" marL="22860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»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25500" lvl="5" marL="27432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•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5500" lvl="6" marL="32004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•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25500" lvl="7" marL="36576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•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25500" lvl="8" marL="41148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•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>
            <p:ph idx="1" type="body"/>
          </p:nvPr>
        </p:nvSpPr>
        <p:spPr>
          <a:xfrm>
            <a:off x="642938" y="2196703"/>
            <a:ext cx="7815262" cy="2661047"/>
          </a:xfrm>
          <a:prstGeom prst="rect">
            <a:avLst/>
          </a:prstGeom>
          <a:noFill/>
          <a:ln>
            <a:noFill/>
          </a:ln>
        </p:spPr>
        <p:txBody>
          <a:bodyPr anchorCtr="0" anchor="t" bIns="47025" lIns="94100" spcFirstLastPara="1" rIns="94100" wrap="square" tIns="47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20"/>
              </a:spcBef>
              <a:spcAft>
                <a:spcPts val="0"/>
              </a:spcAft>
              <a:buSzPts val="15100"/>
              <a:buNone/>
            </a:pPr>
            <a:r>
              <a:t/>
            </a:r>
            <a:endParaRPr/>
          </a:p>
          <a:p>
            <a:pPr indent="501650" lvl="0" marL="457200" rtl="0" algn="l">
              <a:lnSpc>
                <a:spcPct val="100000"/>
              </a:lnSpc>
              <a:spcBef>
                <a:spcPts val="3020"/>
              </a:spcBef>
              <a:spcAft>
                <a:spcPts val="0"/>
              </a:spcAft>
              <a:buSzPts val="15100"/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3415004" y="3219941"/>
            <a:ext cx="4572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66" name="Google Shape;66;p2"/>
          <p:cNvSpPr txBox="1"/>
          <p:nvPr>
            <p:ph type="title"/>
          </p:nvPr>
        </p:nvSpPr>
        <p:spPr>
          <a:xfrm>
            <a:off x="138224" y="694236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>
              <a:defRPr sz="2800" b="1">
                <a:solidFill>
                  <a:srgbClr val="C05C46"/>
                </a:solidFill>
              </a:defRPr>
            </a:pPr>
            <a:r>
              <a:t>ShopEZ: Vintage Sepia Neubrutalist E-Commerce</a:t>
            </a:r>
          </a:p>
        </p:txBody>
      </p:sp>
      <p:sp>
        <p:nvSpPr>
          <p:cNvPr id="67" name="Google Shape;67;p2"/>
          <p:cNvSpPr txBox="1"/>
          <p:nvPr/>
        </p:nvSpPr>
        <p:spPr>
          <a:xfrm>
            <a:off x="267767" y="3265616"/>
            <a:ext cx="2064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>
              <a:defRPr sz="1400">
                <a:solidFill>
                  <a:srgbClr val="2D2724"/>
                </a:solidFill>
              </a:defRPr>
            </a:pPr>
            <a:r>
              <a:t>Developed by:</a:t>
            </a:r>
          </a:p>
          <a:p>
            <a:pPr>
              <a:defRPr sz="1400">
                <a:solidFill>
                  <a:srgbClr val="2D2724"/>
                </a:solidFill>
              </a:defRPr>
            </a:pPr>
            <a:r>
              <a:t>MERN Full-Stack Development Team</a:t>
            </a:r>
          </a:p>
          <a:p>
            <a:pPr>
              <a:defRPr sz="1400">
                <a:solidFill>
                  <a:srgbClr val="2D2724"/>
                </a:solidFill>
              </a:defRPr>
            </a:pPr>
            <a:r>
              <a:t>TEAM-MERN-03</a:t>
            </a:r>
          </a:p>
        </p:txBody>
      </p:sp>
      <p:sp>
        <p:nvSpPr>
          <p:cNvPr id="68" name="Google Shape;68;p2"/>
          <p:cNvSpPr txBox="1"/>
          <p:nvPr/>
        </p:nvSpPr>
        <p:spPr>
          <a:xfrm>
            <a:off x="5470632" y="3239550"/>
            <a:ext cx="2070599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>
              <a:defRPr sz="1400">
                <a:solidFill>
                  <a:srgbClr val="2D2724"/>
                </a:solidFill>
              </a:defRPr>
            </a:pPr>
            <a:r>
              <a:t>Project Guide:</a:t>
            </a:r>
          </a:p>
          <a:p>
            <a:pPr>
              <a:defRPr sz="1400">
                <a:solidFill>
                  <a:srgbClr val="2D2724"/>
                </a:solidFill>
              </a:defRPr>
            </a:pPr>
            <a:r>
              <a:t>Prof. MERN Mentor</a:t>
            </a:r>
          </a:p>
          <a:p>
            <a:pPr>
              <a:defRPr sz="1400">
                <a:solidFill>
                  <a:srgbClr val="2D2724"/>
                </a:solidFill>
              </a:defRPr>
            </a:pPr>
            <a:r>
              <a:t>Department of CSE</a:t>
            </a:r>
          </a:p>
        </p:txBody>
      </p:sp>
      <p:sp>
        <p:nvSpPr>
          <p:cNvPr id="69" name="Google Shape;69;p2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Department of Computer Science and Engineering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Bookman Old Style"/>
                <a:ea typeface="Bookman Old Style"/>
                <a:cs typeface="Bookman Old Style"/>
                <a:sym typeface="Bookman Old Style"/>
              </a:rPr>
              <a:t>‹#›</a:t>
            </a:fld>
            <a:endParaRPr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415004" y="3219941"/>
            <a:ext cx="45720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77" name="Google Shape;77;p3"/>
          <p:cNvSpPr txBox="1"/>
          <p:nvPr>
            <p:ph type="title"/>
          </p:nvPr>
        </p:nvSpPr>
        <p:spPr>
          <a:xfrm>
            <a:off x="1053736" y="541342"/>
            <a:ext cx="6117300" cy="62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700"/>
              <a:buNone/>
            </a:pPr>
            <a:r>
              <a:rPr lang="en-US" sz="1600"/>
              <a:t>Index</a:t>
            </a:r>
            <a:endParaRPr sz="1600"/>
          </a:p>
        </p:txBody>
      </p:sp>
      <p:sp>
        <p:nvSpPr>
          <p:cNvPr id="78" name="Google Shape;78;p3"/>
          <p:cNvSpPr txBox="1"/>
          <p:nvPr/>
        </p:nvSpPr>
        <p:spPr>
          <a:xfrm>
            <a:off x="457195" y="1102121"/>
            <a:ext cx="6656100" cy="46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 of the Project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&amp; Hardware Requirements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Design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Flowchart &amp; Algorithm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 Description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/ Output Screens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&amp; Limitations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Enhancements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AutoNum type="arabicPeriod"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79" name="Google Shape;79;p3"/>
          <p:cNvSpPr txBox="1"/>
          <p:nvPr>
            <p:ph idx="10" type="dt"/>
          </p:nvPr>
        </p:nvSpPr>
        <p:spPr>
          <a:xfrm>
            <a:off x="457200" y="4767264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 txBox="1"/>
          <p:nvPr>
            <p:ph idx="11" type="ftr"/>
          </p:nvPr>
        </p:nvSpPr>
        <p:spPr>
          <a:xfrm>
            <a:off x="3124200" y="4767264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Department of Computer Science and Engineering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2339eb39d_0_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86" name="Google Shape;86;g3f2339eb39d_0_6"/>
          <p:cNvSpPr txBox="1"/>
          <p:nvPr>
            <p:ph idx="1" type="body"/>
          </p:nvPr>
        </p:nvSpPr>
        <p:spPr>
          <a:xfrm>
            <a:off x="457200" y="1200152"/>
            <a:ext cx="8229600" cy="3394500"/>
          </a:xfrm>
          <a:prstGeom prst="rect">
            <a:avLst/>
          </a:prstGeom>
        </p:spPr>
        <p:txBody>
          <a:bodyPr anchorCtr="0" anchor="t" bIns="47025" lIns="94100" spcFirstLastPara="1" rIns="94100" wrap="square" tIns="47025">
            <a:no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  <a:defRPr sz="2200" b="1">
                <a:solidFill>
                  <a:srgbClr val="C05C46"/>
                </a:solidFill>
              </a:defRPr>
            </a:pPr>
            <a:r>
              <a:t>Internship Objectives &amp; Learning Outcomes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>
              <a:defRPr sz="1300">
                <a:solidFill>
                  <a:srgbClr val="2D2724"/>
                </a:solidFill>
              </a:defRPr>
            </a:pPr>
            <a:r>
              <a:t>• Objectives: Design and build a customized retail MERN platform featuring vintage aesthetics.</a:t>
            </a:r>
          </a:p>
          <a:p>
            <a:pPr>
              <a:defRPr sz="1300">
                <a:solidFill>
                  <a:srgbClr val="2D2724"/>
                </a:solidFill>
              </a:defRPr>
            </a:pPr>
            <a:r>
              <a:t>• Work Carried Out: Re-architected backend controllers, added validations, created neubrutalist UI.</a:t>
            </a:r>
          </a:p>
          <a:p>
            <a:pPr>
              <a:defRPr sz="1300">
                <a:solidFill>
                  <a:srgbClr val="2D2724"/>
                </a:solidFill>
              </a:defRPr>
            </a:pPr>
            <a:r>
              <a:t>• Technical Learning Outcomes: Gained expertise in MongoDB Mongoose aggregations, JWT security, custom CSS custom variables.</a:t>
            </a:r>
          </a:p>
          <a:p>
            <a:pPr>
              <a:defRPr sz="1300">
                <a:solidFill>
                  <a:srgbClr val="2D2724"/>
                </a:solidFill>
              </a:defRPr>
            </a:pPr>
            <a:r>
              <a:t>• Challenges Faced: Overcoming stale sessions during db re-seeds solved using Axios interceptor logout events.</a:t>
            </a:r>
          </a:p>
          <a:p>
            <a:pPr>
              <a:defRPr sz="1300">
                <a:solidFill>
                  <a:srgbClr val="2D2724"/>
                </a:solidFill>
              </a:defRPr>
            </a:pPr>
            <a:r>
              <a:t>• Relevance to Curriculum: Direct application of Software Engineering, Web Design, and Database Management principles.</a:t>
            </a:r>
          </a:p>
        </p:txBody>
      </p:sp>
      <p:sp>
        <p:nvSpPr>
          <p:cNvPr id="87" name="Google Shape;87;g3f2339eb39d_0_6"/>
          <p:cNvSpPr txBox="1"/>
          <p:nvPr>
            <p:ph idx="12" type="sldNum"/>
          </p:nvPr>
        </p:nvSpPr>
        <p:spPr>
          <a:xfrm>
            <a:off x="6553200" y="4767264"/>
            <a:ext cx="2133600" cy="273900"/>
          </a:xfrm>
          <a:prstGeom prst="rect">
            <a:avLst/>
          </a:prstGeom>
        </p:spPr>
        <p:txBody>
          <a:bodyPr anchorCtr="0" anchor="ctr" bIns="47025" lIns="94100" spcFirstLastPara="1" rIns="94100" wrap="square" tIns="470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05C46"/>
                </a:solidFill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724"/>
                </a:solidFill>
              </a:defRPr>
            </a:pPr>
            <a:r>
              <a:t>• ShopEZ is a highly responsive e-commerce web portal built on the MERN stack.</a:t>
            </a:r>
          </a:p>
          <a:p>
            <a:pPr>
              <a:spcAft>
                <a:spcPts val="1000"/>
              </a:spcAft>
              <a:defRPr sz="1400">
                <a:solidFill>
                  <a:srgbClr val="2D2724"/>
                </a:solidFill>
              </a:defRPr>
            </a:pPr>
            <a:r>
              <a:t>• Design Style: Overhauls standard flat corporate UI layouts with a warm vintage sepia console design ('old vibes').</a:t>
            </a:r>
          </a:p>
          <a:p>
            <a:pPr>
              <a:spcAft>
                <a:spcPts val="1000"/>
              </a:spcAft>
              <a:defRPr sz="1400">
                <a:solidFill>
                  <a:srgbClr val="2D2724"/>
                </a:solidFill>
              </a:defRPr>
            </a:pPr>
            <a:r>
              <a:t>• Unique Visual Identity: Bold solid borders, flat offset blocks, monospaced details, and scanline TV filters.</a:t>
            </a:r>
          </a:p>
          <a:p>
            <a:pPr>
              <a:spcAft>
                <a:spcPts val="1000"/>
              </a:spcAft>
              <a:defRPr sz="1400">
                <a:solidFill>
                  <a:srgbClr val="2D2724"/>
                </a:solidFill>
              </a:defRPr>
            </a:pPr>
            <a:r>
              <a:t>• Target Focus: Specifically designed to showcase classic retro gaming accessories and authentic vintage tech items.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2625B"/>
                </a:solidFill>
              </a:defRPr>
            </a:pPr>
            <a:r>
              <a:t>Department of Computer Science and Engineering | ShopEZ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05C46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724"/>
                </a:solidFill>
              </a:defRPr>
            </a:pPr>
            <a:r>
              <a:t>• Generic E-Commerce: Existing collectibles portals look sterile, corporate, and lack nostalgic theme matches.</a:t>
            </a:r>
          </a:p>
          <a:p>
            <a:pPr>
              <a:spcAft>
                <a:spcPts val="1000"/>
              </a:spcAft>
              <a:defRPr sz="1400">
                <a:solidFill>
                  <a:srgbClr val="2D2724"/>
                </a:solidFill>
              </a:defRPr>
            </a:pPr>
            <a:r>
              <a:t>• Stale User Sessions: Database reseeds delete user entries, leaving stale tokens in client local storage which crash checkouts.</a:t>
            </a:r>
          </a:p>
          <a:p>
            <a:pPr>
              <a:spcAft>
                <a:spcPts val="1000"/>
              </a:spcAft>
              <a:defRPr sz="1400">
                <a:solidFill>
                  <a:srgbClr val="2D2724"/>
                </a:solidFill>
              </a:defRPr>
            </a:pPr>
            <a:r>
              <a:t>• Hard-to-use Merchant Tools: Small boutique sellers are overwhelmed by cluttered layouts and lack low-stock indicators.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2625B"/>
                </a:solidFill>
              </a:defRPr>
            </a:pPr>
            <a:r>
              <a:t>Department of Computer Science and Engineering | ShopEZ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05C46"/>
                </a:solidFill>
              </a:defRPr>
            </a:pPr>
            <a:r>
              <a:t>Objectives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724"/>
                </a:solidFill>
              </a:defRPr>
            </a:pPr>
            <a:r>
              <a:t>• Cozy Nostalgic Experience: Establish a pleasant, sepia-toned neubrutalist console catalog.</a:t>
            </a:r>
          </a:p>
          <a:p>
            <a:pPr>
              <a:spcAft>
                <a:spcPts val="1000"/>
              </a:spcAft>
              <a:defRPr sz="1400">
                <a:solidFill>
                  <a:srgbClr val="2D2724"/>
                </a:solidFill>
              </a:defRPr>
            </a:pPr>
            <a:r>
              <a:t>• Interactive Gamified Checkout: Build a stateful credit card card widget that flips around on CVV inputs.</a:t>
            </a:r>
          </a:p>
          <a:p>
            <a:pPr>
              <a:spcAft>
                <a:spcPts val="1000"/>
              </a:spcAft>
              <a:defRPr sz="1400">
                <a:solidFill>
                  <a:srgbClr val="2D2724"/>
                </a:solidFill>
              </a:defRPr>
            </a:pPr>
            <a:r>
              <a:t>• Boutique Analytics Dashboard: Display revenue in Rupees (₹) and highlight progress alerts for low inventories.</a:t>
            </a:r>
          </a:p>
          <a:p>
            <a:pPr>
              <a:spcAft>
                <a:spcPts val="1000"/>
              </a:spcAft>
              <a:defRPr sz="1400">
                <a:solidFill>
                  <a:srgbClr val="2D2724"/>
                </a:solidFill>
              </a:defRPr>
            </a:pPr>
            <a:r>
              <a:t>• Session Resiliency: Formulate global Axios error interceptors to handle 401 logouts gracefully.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2625B"/>
                </a:solidFill>
              </a:defRPr>
            </a:pPr>
            <a:r>
              <a:t>Department of Computer Science and Engineering | ShopEZ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05C46"/>
                </a:solidFill>
              </a:defRPr>
            </a:pPr>
            <a:r>
              <a:t>Existing vs 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724"/>
                </a:solidFill>
              </a:defRPr>
            </a:pPr>
            <a:r>
              <a:t>• Existing System: Uses standard Bootstrap layouts, grey buttons, and soft radial shadow cards with zero theme colors.</a:t>
            </a:r>
          </a:p>
          <a:p>
            <a:pPr>
              <a:spcAft>
                <a:spcPts val="1000"/>
              </a:spcAft>
              <a:defRPr sz="1400">
                <a:solidFill>
                  <a:srgbClr val="2D2724"/>
                </a:solidFill>
              </a:defRPr>
            </a:pPr>
            <a:r>
              <a:t>• Proposed System: Custom neubrutalist theme using HSL CSS tokens, tactile depressed buttons, and a vintage library aesthetic.</a:t>
            </a:r>
          </a:p>
          <a:p>
            <a:pPr>
              <a:spcAft>
                <a:spcPts val="1000"/>
              </a:spcAft>
              <a:defRPr sz="1400">
                <a:solidFill>
                  <a:srgbClr val="2D2724"/>
                </a:solidFill>
              </a:defRPr>
            </a:pPr>
            <a:r>
              <a:t>• Proposed System Advantage: Interactive checkout simulated logs and automatic stale token redirection to logins.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2625B"/>
                </a:solidFill>
              </a:defRPr>
            </a:pPr>
            <a:r>
              <a:t>Department of Computer Science and Engineering | ShopEZ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05C46"/>
                </a:solidFill>
              </a:defRPr>
            </a:pPr>
            <a:r>
              <a:t>Software &amp; Hardware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724"/>
                </a:solidFill>
              </a:defRPr>
            </a:pPr>
            <a:r>
              <a:t>• Frontend Environment: React.js, React Router, HTML5, Vanilla CSS3 (Courier Prime &amp; Space Mono Google Fonts).</a:t>
            </a:r>
          </a:p>
          <a:p>
            <a:pPr>
              <a:spcAft>
                <a:spcPts val="1000"/>
              </a:spcAft>
              <a:defRPr sz="1400">
                <a:solidFill>
                  <a:srgbClr val="2D2724"/>
                </a:solidFill>
              </a:defRPr>
            </a:pPr>
            <a:r>
              <a:t>• Backend Environment: Node.js, Express.js (Modular Route/Controller pattern).</a:t>
            </a:r>
          </a:p>
          <a:p>
            <a:pPr>
              <a:spcAft>
                <a:spcPts val="1000"/>
              </a:spcAft>
              <a:defRPr sz="1400">
                <a:solidFill>
                  <a:srgbClr val="2D2724"/>
                </a:solidFill>
              </a:defRPr>
            </a:pPr>
            <a:r>
              <a:t>• Database Layer: MongoDB Local Community Server, Mongoose ORM.</a:t>
            </a:r>
          </a:p>
          <a:p>
            <a:pPr>
              <a:spcAft>
                <a:spcPts val="1000"/>
              </a:spcAft>
              <a:defRPr sz="1400">
                <a:solidFill>
                  <a:srgbClr val="2D2724"/>
                </a:solidFill>
              </a:defRPr>
            </a:pPr>
            <a:r>
              <a:t>• Hardware: Any system with &amp;ge; 4GB RAM, dual-core CPU, and 1GB disk space running Node v18+.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2625B"/>
                </a:solidFill>
              </a:defRPr>
            </a:pPr>
            <a:r>
              <a:t>Department of Computer Science and Engineering | ShopEZ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05C46"/>
                </a:solidFill>
              </a:defRPr>
            </a:pPr>
            <a:r>
              <a:t>System Design &amp;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724"/>
                </a:solidFill>
              </a:defRPr>
            </a:pPr>
            <a:r>
              <a:t>• Controller Route Separation: Decoupled code structures under backend/controllers/ and backend/routes/ folders.</a:t>
            </a:r>
          </a:p>
          <a:p>
            <a:pPr>
              <a:spcAft>
                <a:spcPts val="1000"/>
              </a:spcAft>
              <a:defRPr sz="1400">
                <a:solidFill>
                  <a:srgbClr val="2D2724"/>
                </a:solidFill>
              </a:defRPr>
            </a:pPr>
            <a:r>
              <a:t>• Input Schema Validators: Validation layers sanitize inputs (emails, positive product prices) before model queries.</a:t>
            </a:r>
          </a:p>
          <a:p>
            <a:pPr>
              <a:spcAft>
                <a:spcPts val="1000"/>
              </a:spcAft>
              <a:defRPr sz="1400">
                <a:solidFill>
                  <a:srgbClr val="2D2724"/>
                </a:solidFill>
              </a:defRPr>
            </a:pPr>
            <a:r>
              <a:t>• Global AsyncHandler: Middleware removes try-catch duplication across all route controllers.</a:t>
            </a:r>
          </a:p>
          <a:p>
            <a:pPr>
              <a:spcAft>
                <a:spcPts val="1000"/>
              </a:spcAft>
              <a:defRPr sz="1400">
                <a:solidFill>
                  <a:srgbClr val="2D2724"/>
                </a:solidFill>
              </a:defRPr>
            </a:pPr>
            <a:r>
              <a:t>• Authorization Guards: Verified JWT signatures inside HTTP request headers secure customer endpoints.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2625B"/>
                </a:solidFill>
              </a:defRPr>
            </a:pPr>
            <a:r>
              <a:t>Department of Computer Science and Engineering | ShopEZ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05C46"/>
                </a:solidFill>
              </a:defRPr>
            </a:pPr>
            <a:r>
              <a:t>Code Implementation: Async Wrapper (Backend)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2D2724"/>
                </a:solidFill>
              </a:defRPr>
            </a:pPr>
            <a:r>
              <a:t>Modular middleware ensuring error resiliency across all MongoDB queries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D2724"/>
                </a:solidFill>
                <a:latin typeface="Consolas"/>
              </a:defRPr>
            </a:pPr>
            <a:r>
              <a:t>// backend/utils/asyncHandler.js</a:t>
            </a:r>
            <a:br/>
            <a:r>
              <a:t>const asyncHandler = (fn) =&gt; (req, res, next) =&gt; {</a:t>
            </a:r>
            <a:br/>
            <a:r>
              <a:t>  Promise.resolve(fn(req, res, next)).catch(next);</a:t>
            </a:r>
            <a:br/>
            <a:r>
              <a:t>};</a:t>
            </a:r>
            <a:br/>
            <a:br/>
            <a:r>
              <a:t>// Example Usage in route definition:</a:t>
            </a:r>
            <a:br/>
            <a:r>
              <a:t>router.get('/products', asyncHandler(getProducts));</a:t>
            </a:r>
            <a:br/>
            <a:br/>
            <a:r>
              <a:t>// Benefits:</a:t>
            </a:r>
            <a:br/>
            <a:r>
              <a:t>- Eliminates massive repetitive try-catch blocks in route controllers.</a:t>
            </a:r>
            <a:br/>
            <a:r>
              <a:t>- Ensures all errors are forwarded to the server's global error handler middleware.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2625B"/>
                </a:solidFill>
              </a:defRPr>
            </a:pPr>
            <a:r>
              <a:t>Department of Computer Science and Engineering | Implementation Code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05C46"/>
                </a:solidFill>
              </a:defRPr>
            </a:pPr>
            <a:r>
              <a:t>Code Implementation: 401 Session Interceptor (Client)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2D2724"/>
                </a:solidFill>
              </a:defRPr>
            </a:pPr>
            <a:r>
              <a:t>Detects database resets and safely redirects stale sessions back to login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D2724"/>
                </a:solidFill>
                <a:latin typeface="Consolas"/>
              </a:defRPr>
            </a:pPr>
            <a:r>
              <a:t>// frontend/src/api/axios.js</a:t>
            </a:r>
            <a:br/>
            <a:r>
              <a:t>api.interceptors.response.use(</a:t>
            </a:r>
            <a:br/>
            <a:r>
              <a:t>  (response) =&gt; response,</a:t>
            </a:r>
            <a:br/>
            <a:r>
              <a:t>  (error) =&gt; {</a:t>
            </a:r>
            <a:br/>
            <a:r>
              <a:t>    if (error.response &amp;&amp; error.response.status === 401) {</a:t>
            </a:r>
            <a:br/>
            <a:r>
              <a:t>      // Dispatch global logout event when session is stale (e.g. database re-seeded)</a:t>
            </a:r>
            <a:br/>
            <a:r>
              <a:t>      window.dispatchEvent(new CustomEvent('shopez-logout'));</a:t>
            </a:r>
            <a:br/>
            <a:r>
              <a:t>    }</a:t>
            </a:r>
            <a:br/>
            <a:r>
              <a:t>    return Promise.reject(error);</a:t>
            </a:r>
            <a:br/>
            <a:r>
              <a:t>  }</a:t>
            </a:r>
            <a:br/>
            <a:r>
              <a:t>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2625B"/>
                </a:solidFill>
              </a:defRPr>
            </a:pPr>
            <a:r>
              <a:t>Department of Computer Science and Engineering | Implementation Code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05C46"/>
                </a:solidFill>
              </a:defRPr>
            </a:pPr>
            <a:r>
              <a:t>Code Implementation: 3D Flip Payment Card (UI)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2D2724"/>
                </a:solidFill>
              </a:defRPr>
            </a:pPr>
            <a:r>
              <a:t>React stateful triggers flip the virtual card during focus transitions on checkout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D2724"/>
                </a:solidFill>
                <a:latin typeface="Consolas"/>
              </a:defRPr>
            </a:pPr>
            <a:r>
              <a:t>// frontend/src/pages/Checkout.js</a:t>
            </a:r>
            <a:br/>
            <a:r>
              <a:t>// 3D Perspective Card Component Flipping Logic:</a:t>
            </a:r>
            <a:br/>
            <a:r>
              <a:t>&lt;div className="flip-card-container"&gt;</a:t>
            </a:r>
            <a:br/>
            <a:r>
              <a:t>  &lt;div className={`flip-card-inner ${cardFlipped ? 'flipped' : ''}`}&gt;</a:t>
            </a:r>
            <a:br/>
            <a:r>
              <a:t>    {/* Front Layout showing Name, Number, Expiry */}</a:t>
            </a:r>
            <a:br/>
            <a:r>
              <a:t>    &lt;div className="card-front"&gt;...&lt;/div&gt;</a:t>
            </a:r>
            <a:br/>
            <a:r>
              <a:t>    {/* Back Layout showing Signature Box and CVV */}</a:t>
            </a:r>
            <a:br/>
            <a:r>
              <a:t>    &lt;div className="card-back"&gt;...&lt;/div&gt;</a:t>
            </a:r>
            <a:br/>
            <a:r>
              <a:t>  &lt;/div&gt;</a:t>
            </a:r>
            <a:br/>
            <a:r>
              <a:t>&lt;/div&gt;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2625B"/>
                </a:solidFill>
              </a:defRPr>
            </a:pPr>
            <a:r>
              <a:t>Department of Computer Science and Engineering | Implementation Code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05C46"/>
                </a:solidFill>
              </a:defRPr>
            </a:pPr>
            <a:r>
              <a:t>Output Screen: E-Commerce Product Catalog</a:t>
            </a:r>
          </a:p>
        </p:txBody>
      </p:sp>
      <p:pic>
        <p:nvPicPr>
          <p:cNvPr id="5" name="Picture 4" descr="Screenshot (1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2625B"/>
                </a:solidFill>
              </a:defRPr>
            </a:pPr>
            <a:r>
              <a:t>Department of Computer Science and Engineering | Project Output Screens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05C46"/>
                </a:solidFill>
              </a:defRPr>
            </a:pPr>
            <a:r>
              <a:t>Output Screen: Detailed Specs &amp; User Reviews</a:t>
            </a:r>
          </a:p>
        </p:txBody>
      </p:sp>
      <p:pic>
        <p:nvPicPr>
          <p:cNvPr id="5" name="Picture 4" descr="Screenshot (17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2625B"/>
                </a:solidFill>
              </a:defRPr>
            </a:pPr>
            <a:r>
              <a:t>Department of Computer Science and Engineering | Project Output Screens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05C46"/>
                </a:solidFill>
              </a:defRPr>
            </a:pPr>
            <a:r>
              <a:t>Output Screen: Interactive Flipping Credit Card Form</a:t>
            </a:r>
          </a:p>
        </p:txBody>
      </p:sp>
      <p:pic>
        <p:nvPicPr>
          <p:cNvPr id="5" name="Picture 4" descr="Screenshot (1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2625B"/>
                </a:solidFill>
              </a:defRPr>
            </a:pPr>
            <a:r>
              <a:t>Department of Computer Science and Engineering | Project Output Screens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05C46"/>
                </a:solidFill>
              </a:defRPr>
            </a:pPr>
            <a:r>
              <a:t>Output Screen: Seller Operations Dashboard Console</a:t>
            </a:r>
          </a:p>
        </p:txBody>
      </p:sp>
      <p:pic>
        <p:nvPicPr>
          <p:cNvPr id="5" name="Picture 4" descr="Screenshot (19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389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2625B"/>
                </a:solidFill>
              </a:defRPr>
            </a:pPr>
            <a:r>
              <a:t>Department of Computer Science and Engineering | Project Output Screens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05C46"/>
                </a:solidFill>
              </a:defRPr>
            </a:pPr>
            <a:r>
              <a:t>Advantages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724"/>
                </a:solidFill>
              </a:defRPr>
            </a:pPr>
            <a:r>
              <a:t>• Advantages: Engaging layout style increases user session durations; robust stale session handlers prevent crashes.</a:t>
            </a:r>
          </a:p>
          <a:p>
            <a:pPr>
              <a:spcAft>
                <a:spcPts val="1000"/>
              </a:spcAft>
              <a:defRPr sz="1400">
                <a:solidFill>
                  <a:srgbClr val="2D2724"/>
                </a:solidFill>
              </a:defRPr>
            </a:pPr>
            <a:r>
              <a:t>• Advantages: Decoupled codebase controllers make features expansion clean and easy.</a:t>
            </a:r>
          </a:p>
          <a:p>
            <a:pPr>
              <a:spcAft>
                <a:spcPts val="1000"/>
              </a:spcAft>
              <a:defRPr sz="1400">
                <a:solidFill>
                  <a:srgbClr val="2D2724"/>
                </a:solidFill>
              </a:defRPr>
            </a:pPr>
            <a:r>
              <a:t>• Limitations: Local MongoDB storage configuration; does not have multiple billing currency conversion supports.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2625B"/>
                </a:solidFill>
              </a:defRPr>
            </a:pPr>
            <a:r>
              <a:t>Department of Computer Science and Engineering | ShopEZ Project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05C46"/>
                </a:solidFill>
              </a:defRPr>
            </a:pPr>
            <a:r>
              <a:t>Future Enhancements &amp;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724"/>
                </a:solidFill>
              </a:defRPr>
            </a:pPr>
            <a:r>
              <a:t>• Enhancements: Integrate multiple currency toggling and live shipping carrier rates.</a:t>
            </a:r>
          </a:p>
          <a:p>
            <a:pPr>
              <a:spcAft>
                <a:spcPts val="1000"/>
              </a:spcAft>
              <a:defRPr sz="1400">
                <a:solidFill>
                  <a:srgbClr val="2D2724"/>
                </a:solidFill>
              </a:defRPr>
            </a:pPr>
            <a:r>
              <a:t>• Enhancements: Build automated PDF invoice email dispatch mechanisms upon transaction settle.</a:t>
            </a:r>
          </a:p>
          <a:p>
            <a:pPr>
              <a:spcAft>
                <a:spcPts val="1000"/>
              </a:spcAft>
              <a:defRPr sz="1400">
                <a:solidFill>
                  <a:srgbClr val="2D2724"/>
                </a:solidFill>
              </a:defRPr>
            </a:pPr>
            <a:r>
              <a:t>• Conclusion: ShopEZ successfully implements the vintage sepia console e-commerce design, proving aesthetics boost digital retail engagement.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2625B"/>
                </a:solidFill>
              </a:defRPr>
            </a:pPr>
            <a:r>
              <a:t>Department of Computer Science and Engineering | ShopEZ Project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C05C46"/>
                </a:solidFill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724"/>
                </a:solidFill>
              </a:defRPr>
            </a:pPr>
            <a:r>
              <a:t>• React documentation: https://react.dev</a:t>
            </a:r>
          </a:p>
          <a:p>
            <a:pPr>
              <a:spcAft>
                <a:spcPts val="1000"/>
              </a:spcAft>
              <a:defRPr sz="1400">
                <a:solidFill>
                  <a:srgbClr val="2D2724"/>
                </a:solidFill>
              </a:defRPr>
            </a:pPr>
            <a:r>
              <a:t>• Express documentation: https://expressjs.com</a:t>
            </a:r>
          </a:p>
          <a:p>
            <a:pPr>
              <a:spcAft>
                <a:spcPts val="1000"/>
              </a:spcAft>
              <a:defRPr sz="1400">
                <a:solidFill>
                  <a:srgbClr val="2D2724"/>
                </a:solidFill>
              </a:defRPr>
            </a:pPr>
            <a:r>
              <a:t>• MongoDB documentation: https://mongodb.com</a:t>
            </a:r>
          </a:p>
          <a:p>
            <a:pPr>
              <a:spcAft>
                <a:spcPts val="1000"/>
              </a:spcAft>
              <a:defRPr sz="1400">
                <a:solidFill>
                  <a:srgbClr val="2D2724"/>
                </a:solidFill>
              </a:defRPr>
            </a:pPr>
            <a:r>
              <a:t>• C4 Model System Architecture patterns: https://c4model.com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72625B"/>
                </a:solidFill>
              </a:defRPr>
            </a:pPr>
            <a:r>
              <a:t>Department of Computer Science and Engineering | ShopEZ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Raj</dc:creator>
</cp:coreProperties>
</file>